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12192000"/>
  <p:notesSz cx="6858000" cy="9144000"/>
  <p:embeddedFontLst>
    <p:embeddedFont>
      <p:font typeface="IBM Plex Sans"/>
      <p:regular r:id="rId11"/>
      <p:bold r:id="rId12"/>
      <p:italic r:id="rId13"/>
      <p:boldItalic r:id="rId14"/>
    </p:embeddedFont>
    <p:embeddedFont>
      <p:font typeface="IBM Plex Sans Light"/>
      <p:regular r:id="rId15"/>
      <p:bold r:id="rId16"/>
      <p:italic r:id="rId17"/>
      <p:boldItalic r:id="rId18"/>
    </p:embeddedFont>
    <p:embeddedFont>
      <p:font typeface="Saira Condensed SemiBold"/>
      <p:regular r:id="rId19"/>
      <p:bold r:id="rId20"/>
    </p:embeddedFont>
    <p:embeddedFont>
      <p:font typeface="Saira Condensed Light"/>
      <p:regular r:id="rId21"/>
      <p:bold r:id="rId22"/>
    </p:embeddedFont>
    <p:embeddedFont>
      <p:font typeface="IBM Plex Sans SemiBold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004784F-FDA8-4D67-96AE-D90BD62A2ABE}">
  <a:tblStyle styleId="{1004784F-FDA8-4D67-96AE-D90BD62A2AB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FC8E45D3-87BC-49CB-87A9-8453F00FF4F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airaCondensedSemiBold-bold.fntdata"/><Relationship Id="rId22" Type="http://schemas.openxmlformats.org/officeDocument/2006/relationships/font" Target="fonts/SairaCondensedLight-bold.fntdata"/><Relationship Id="rId21" Type="http://schemas.openxmlformats.org/officeDocument/2006/relationships/font" Target="fonts/SairaCondensedLight-regular.fntdata"/><Relationship Id="rId24" Type="http://schemas.openxmlformats.org/officeDocument/2006/relationships/font" Target="fonts/IBMPlexSansSemiBold-bold.fntdata"/><Relationship Id="rId23" Type="http://schemas.openxmlformats.org/officeDocument/2006/relationships/font" Target="fonts/IBMPlexSansSemiBold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BMPlexSansSemiBold-boldItalic.fntdata"/><Relationship Id="rId25" Type="http://schemas.openxmlformats.org/officeDocument/2006/relationships/font" Target="fonts/IBMPlexSansSemiBold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font" Target="fonts/IBMPlexSans-regular.fntdata"/><Relationship Id="rId10" Type="http://schemas.openxmlformats.org/officeDocument/2006/relationships/slide" Target="slides/slide5.xml"/><Relationship Id="rId13" Type="http://schemas.openxmlformats.org/officeDocument/2006/relationships/font" Target="fonts/IBMPlexSans-italic.fntdata"/><Relationship Id="rId12" Type="http://schemas.openxmlformats.org/officeDocument/2006/relationships/font" Target="fonts/IBMPlexSans-bold.fntdata"/><Relationship Id="rId15" Type="http://schemas.openxmlformats.org/officeDocument/2006/relationships/font" Target="fonts/IBMPlexSansLight-regular.fntdata"/><Relationship Id="rId14" Type="http://schemas.openxmlformats.org/officeDocument/2006/relationships/font" Target="fonts/IBMPlexSans-boldItalic.fntdata"/><Relationship Id="rId17" Type="http://schemas.openxmlformats.org/officeDocument/2006/relationships/font" Target="fonts/IBMPlexSansLight-italic.fntdata"/><Relationship Id="rId16" Type="http://schemas.openxmlformats.org/officeDocument/2006/relationships/font" Target="fonts/IBMPlexSansLight-bold.fntdata"/><Relationship Id="rId19" Type="http://schemas.openxmlformats.org/officeDocument/2006/relationships/font" Target="fonts/SairaCondensedSemiBold-regular.fntdata"/><Relationship Id="rId18" Type="http://schemas.openxmlformats.org/officeDocument/2006/relationships/font" Target="fonts/IBMPlexSansLight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h2a7e09348bd4f0aa_1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h2a7e09348bd4f0aa_1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h2a7e09348bd4f0aa_1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h2a7e09348bd4f0aa_1_1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h2a7e09348bd4f0aa_1_1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h2a7e09348bd4f0aa_1_15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h2a7e09348bd4f0aa_1_3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h2a7e09348bd4f0aa_1_30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h2a7e09348bd4f0aa_1_30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9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9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10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ackground pattern&#10;&#10;Description automatically generated" id="15" name="Google Shape;15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>
            <p:ph type="ctrTitle"/>
          </p:nvPr>
        </p:nvSpPr>
        <p:spPr>
          <a:xfrm>
            <a:off x="4249881" y="2504921"/>
            <a:ext cx="7280733" cy="20615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Saira Condensed Light"/>
              <a:buNone/>
              <a:defRPr b="0" i="0" sz="5400">
                <a:solidFill>
                  <a:schemeClr val="lt1"/>
                </a:solidFill>
                <a:latin typeface="Saira Condensed Light"/>
                <a:ea typeface="Saira Condensed Light"/>
                <a:cs typeface="Saira Condensed Light"/>
                <a:sym typeface="Saira Condense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4488873" y="4591369"/>
            <a:ext cx="7041742" cy="9346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b="0" i="0" sz="2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idx="2" type="body"/>
          </p:nvPr>
        </p:nvSpPr>
        <p:spPr>
          <a:xfrm>
            <a:off x="4675910" y="5690085"/>
            <a:ext cx="6854708" cy="4225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1" i="0" sz="18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indent="-228600" lvl="1" marL="9144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indent="-228600" lvl="2" marL="13716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indent="-228600" lvl="3" marL="18288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0" type="dt"/>
          </p:nvPr>
        </p:nvSpPr>
        <p:spPr>
          <a:xfrm>
            <a:off x="10416209" y="6342033"/>
            <a:ext cx="1114406" cy="24622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tatue of a person riding a horse&#10;&#10;Description automatically generated with medium confidence" id="21" name="Google Shape;21;p3"/>
          <p:cNvPicPr preferRelativeResize="0"/>
          <p:nvPr/>
        </p:nvPicPr>
        <p:blipFill rotWithShape="1">
          <a:blip r:embed="rId2">
            <a:alphaModFix/>
          </a:blip>
          <a:srcRect b="0" l="16253" r="0" t="0"/>
          <a:stretch/>
        </p:blipFill>
        <p:spPr>
          <a:xfrm>
            <a:off x="2" y="0"/>
            <a:ext cx="863634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shape&#10;&#10;Description automatically generated"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8451" y="0"/>
            <a:ext cx="1189355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>
            <p:ph type="ctrTitle"/>
          </p:nvPr>
        </p:nvSpPr>
        <p:spPr>
          <a:xfrm>
            <a:off x="6324602" y="2504921"/>
            <a:ext cx="5206015" cy="20615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Saira Condensed Light"/>
              <a:buNone/>
              <a:defRPr b="0" i="0" sz="5400">
                <a:solidFill>
                  <a:schemeClr val="lt1"/>
                </a:solidFill>
                <a:latin typeface="Saira Condensed Light"/>
                <a:ea typeface="Saira Condensed Light"/>
                <a:cs typeface="Saira Condensed Light"/>
                <a:sym typeface="Saira Condense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" type="subTitle"/>
          </p:nvPr>
        </p:nvSpPr>
        <p:spPr>
          <a:xfrm>
            <a:off x="6616701" y="4591369"/>
            <a:ext cx="4913915" cy="9346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b="0" i="0" sz="2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5" name="Google Shape;25;p3"/>
          <p:cNvSpPr txBox="1"/>
          <p:nvPr>
            <p:ph idx="2" type="body"/>
          </p:nvPr>
        </p:nvSpPr>
        <p:spPr>
          <a:xfrm>
            <a:off x="6794501" y="5690085"/>
            <a:ext cx="4736115" cy="4225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1" i="0" sz="18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indent="-228600" lvl="1" marL="9144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indent="-228600" lvl="2" marL="13716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indent="-228600" lvl="3" marL="18288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0" type="dt"/>
          </p:nvPr>
        </p:nvSpPr>
        <p:spPr>
          <a:xfrm>
            <a:off x="10406269" y="6342033"/>
            <a:ext cx="1124345" cy="24622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Custom Image">
  <p:cSld name="Title Slide - Custom Image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 rotWithShape="1">
          <a:blip r:embed="rId2">
            <a:alphaModFix/>
          </a:blip>
          <a:srcRect b="0" l="103" r="14569" t="0"/>
          <a:stretch/>
        </p:blipFill>
        <p:spPr>
          <a:xfrm>
            <a:off x="-2033456" y="0"/>
            <a:ext cx="1039240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shape&#10;&#10;Description automatically generated" id="29" name="Google Shape;2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8449" y="0"/>
            <a:ext cx="1189355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 txBox="1"/>
          <p:nvPr>
            <p:ph type="ctrTitle"/>
          </p:nvPr>
        </p:nvSpPr>
        <p:spPr>
          <a:xfrm>
            <a:off x="6324602" y="2504921"/>
            <a:ext cx="5206015" cy="20615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Saira Condensed Light"/>
              <a:buNone/>
              <a:defRPr b="0" i="0" sz="5400">
                <a:solidFill>
                  <a:schemeClr val="lt1"/>
                </a:solidFill>
                <a:latin typeface="Saira Condensed Light"/>
                <a:ea typeface="Saira Condensed Light"/>
                <a:cs typeface="Saira Condensed Light"/>
                <a:sym typeface="Saira Condense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" type="subTitle"/>
          </p:nvPr>
        </p:nvSpPr>
        <p:spPr>
          <a:xfrm>
            <a:off x="6616701" y="4591369"/>
            <a:ext cx="4913915" cy="9346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b="0" i="0" sz="2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2" name="Google Shape;32;p4"/>
          <p:cNvSpPr txBox="1"/>
          <p:nvPr>
            <p:ph idx="10" type="dt"/>
          </p:nvPr>
        </p:nvSpPr>
        <p:spPr>
          <a:xfrm>
            <a:off x="10446026" y="6362185"/>
            <a:ext cx="1084590" cy="24622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idx="2" type="body"/>
          </p:nvPr>
        </p:nvSpPr>
        <p:spPr>
          <a:xfrm>
            <a:off x="6794501" y="5690085"/>
            <a:ext cx="4736115" cy="4225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1" i="0" sz="18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indent="-228600" lvl="1" marL="9144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indent="-228600" lvl="2" marL="13716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indent="-228600" lvl="3" marL="18288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4"/>
          <p:cNvSpPr txBox="1"/>
          <p:nvPr/>
        </p:nvSpPr>
        <p:spPr>
          <a:xfrm>
            <a:off x="912816" y="1325690"/>
            <a:ext cx="4215776" cy="51354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INSTRUCTIONS TO REPLACE IMAGE: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b="0" lang="en-US" sz="14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Go to View&gt;Slide Master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b="0" lang="en-US" sz="14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Locate this layout and duplicate it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b="0" lang="en-US" sz="14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Right-click the orange circle on the far-left side of this image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b="0" lang="en-US" sz="14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Scroll to “Change Picture”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b="0" lang="en-US" sz="14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Select “From File” (note that your version of PowerPoint may use different menu language)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b="0" lang="en-US" sz="14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Select desired image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b="0" lang="en-US" sz="14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Resize and crop image as necessary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b="0" lang="en-US" sz="14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Make sure image is sent to back (right click on image)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b="0" lang="en-US" sz="14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Close slide master and insert a new slide using the new, then delete this text box from your presentation slide.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ody of water with buildings along it&#10;&#10;Description automatically generated with medium confidence" id="36" name="Google Shape;36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0904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shape&#10;&#10;Description automatically generated" id="37" name="Google Shape;3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8451" y="0"/>
            <a:ext cx="1189355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5"/>
          <p:cNvSpPr txBox="1"/>
          <p:nvPr>
            <p:ph type="title"/>
          </p:nvPr>
        </p:nvSpPr>
        <p:spPr>
          <a:xfrm>
            <a:off x="6617373" y="974037"/>
            <a:ext cx="4913243" cy="42543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 Condensed SemiBold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" type="body"/>
          </p:nvPr>
        </p:nvSpPr>
        <p:spPr>
          <a:xfrm>
            <a:off x="6858002" y="5394965"/>
            <a:ext cx="4672615" cy="9314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b="0" i="0" sz="2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E8F92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E8F92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E8F92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E8F92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8F92"/>
              </a:buClr>
              <a:buSzPts val="1600"/>
              <a:buNone/>
              <a:defRPr sz="1600">
                <a:solidFill>
                  <a:srgbClr val="8E8F92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8F92"/>
              </a:buClr>
              <a:buSzPts val="1600"/>
              <a:buNone/>
              <a:defRPr sz="1600">
                <a:solidFill>
                  <a:srgbClr val="8E8F92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8F92"/>
              </a:buClr>
              <a:buSzPts val="1600"/>
              <a:buNone/>
              <a:defRPr sz="1600">
                <a:solidFill>
                  <a:srgbClr val="8E8F92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8F92"/>
              </a:buClr>
              <a:buSzPts val="1600"/>
              <a:buNone/>
              <a:defRPr sz="1600">
                <a:solidFill>
                  <a:srgbClr val="8E8F9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head and Content">
  <p:cSld name="Title, Subhead and Conten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646359" y="365127"/>
            <a:ext cx="10709031" cy="7346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644771" y="1345482"/>
            <a:ext cx="10709031" cy="734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b="0" i="0" sz="2000">
                <a:solidFill>
                  <a:schemeClr val="accen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0" i="0">
                <a:solidFill>
                  <a:schemeClr val="accen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0" i="0">
                <a:solidFill>
                  <a:schemeClr val="accen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0" i="0">
                <a:solidFill>
                  <a:schemeClr val="accen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accen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644771" y="2202874"/>
            <a:ext cx="10709031" cy="38792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9375913" y="627684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">
  <p:cSld name="Thank You Slide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person, crowd, event, several&#10;&#10;Description automatically generated" id="46" name="Google Shape;46;p7"/>
          <p:cNvPicPr preferRelativeResize="0"/>
          <p:nvPr/>
        </p:nvPicPr>
        <p:blipFill rotWithShape="1">
          <a:blip r:embed="rId2">
            <a:alphaModFix/>
          </a:blip>
          <a:srcRect b="0" l="28985" r="0" t="0"/>
          <a:stretch/>
        </p:blipFill>
        <p:spPr>
          <a:xfrm>
            <a:off x="2" y="0"/>
            <a:ext cx="730526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shape&#10;&#10;Description automatically generated" id="47" name="Google Shape;4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7"/>
          <p:cNvSpPr txBox="1"/>
          <p:nvPr/>
        </p:nvSpPr>
        <p:spPr>
          <a:xfrm>
            <a:off x="7284722" y="3144277"/>
            <a:ext cx="4245895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>
                <a:solidFill>
                  <a:schemeClr val="lt1"/>
                </a:solidFill>
                <a:latin typeface="Saira Condensed Light"/>
                <a:ea typeface="Saira Condensed Light"/>
                <a:cs typeface="Saira Condensed Light"/>
                <a:sym typeface="Saira Condensed Light"/>
              </a:rPr>
              <a:t>THANK </a:t>
            </a:r>
            <a:r>
              <a:rPr b="1" i="0" lang="en-US" sz="5400">
                <a:solidFill>
                  <a:schemeClr val="lt1"/>
                </a:solidFill>
                <a:latin typeface="Saira Condensed Light"/>
                <a:ea typeface="Saira Condensed Light"/>
                <a:cs typeface="Saira Condensed Light"/>
                <a:sym typeface="Saira Condensed Light"/>
              </a:rPr>
              <a:t>YOU</a:t>
            </a:r>
            <a:endParaRPr/>
          </a:p>
        </p:txBody>
      </p:sp>
      <p:sp>
        <p:nvSpPr>
          <p:cNvPr id="49" name="Google Shape;49;p7"/>
          <p:cNvSpPr txBox="1"/>
          <p:nvPr/>
        </p:nvSpPr>
        <p:spPr>
          <a:xfrm>
            <a:off x="6096002" y="5170418"/>
            <a:ext cx="543461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Stevens Institute of Technology</a:t>
            </a:r>
            <a:br>
              <a:rPr b="1" lang="en-US" sz="16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lang="en-US" sz="16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1 Castle Point Terrace, Hoboken, NJ 07030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type="title"/>
          </p:nvPr>
        </p:nvSpPr>
        <p:spPr>
          <a:xfrm>
            <a:off x="644769" y="365125"/>
            <a:ext cx="10710619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" type="body"/>
          </p:nvPr>
        </p:nvSpPr>
        <p:spPr>
          <a:xfrm>
            <a:off x="644771" y="1825625"/>
            <a:ext cx="10709031" cy="4235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NTR"/>
              <a:buChar char="-"/>
              <a:defRPr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NTR"/>
              <a:buChar char="-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NTR"/>
              <a:buChar char="-"/>
              <a:defRPr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Font typeface="NTR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9375913" y="627684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644769" y="365125"/>
            <a:ext cx="10710619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644769" y="1825625"/>
            <a:ext cx="5181600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6172200" y="1825625"/>
            <a:ext cx="5181600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2" type="sldNum"/>
          </p:nvPr>
        </p:nvSpPr>
        <p:spPr>
          <a:xfrm>
            <a:off x="9375913" y="627684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ntent">
  <p:cSld name="Three Conten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0"/>
          <p:cNvSpPr txBox="1"/>
          <p:nvPr>
            <p:ph type="title"/>
          </p:nvPr>
        </p:nvSpPr>
        <p:spPr>
          <a:xfrm>
            <a:off x="644769" y="365125"/>
            <a:ext cx="10710619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0"/>
          <p:cNvSpPr txBox="1"/>
          <p:nvPr>
            <p:ph idx="1" type="body"/>
          </p:nvPr>
        </p:nvSpPr>
        <p:spPr>
          <a:xfrm>
            <a:off x="644773" y="1825625"/>
            <a:ext cx="3296919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10"/>
          <p:cNvSpPr txBox="1"/>
          <p:nvPr>
            <p:ph idx="2" type="body"/>
          </p:nvPr>
        </p:nvSpPr>
        <p:spPr>
          <a:xfrm>
            <a:off x="4351622" y="1825625"/>
            <a:ext cx="3296919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10"/>
          <p:cNvSpPr txBox="1"/>
          <p:nvPr>
            <p:ph idx="3" type="body"/>
          </p:nvPr>
        </p:nvSpPr>
        <p:spPr>
          <a:xfrm>
            <a:off x="8058471" y="1825625"/>
            <a:ext cx="3296919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9375913" y="627684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ntent and Subhead">
  <p:cSld name="Three Content and Subhead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>
            <p:ph type="title"/>
          </p:nvPr>
        </p:nvSpPr>
        <p:spPr>
          <a:xfrm>
            <a:off x="646359" y="365127"/>
            <a:ext cx="10709031" cy="7346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" type="body"/>
          </p:nvPr>
        </p:nvSpPr>
        <p:spPr>
          <a:xfrm>
            <a:off x="644771" y="1345482"/>
            <a:ext cx="10709031" cy="734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b="0" i="0" sz="2000">
                <a:solidFill>
                  <a:schemeClr val="accen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0" i="0">
                <a:solidFill>
                  <a:schemeClr val="accen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0" i="0">
                <a:solidFill>
                  <a:schemeClr val="accen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0" i="0">
                <a:solidFill>
                  <a:schemeClr val="accen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accen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11"/>
          <p:cNvSpPr txBox="1"/>
          <p:nvPr>
            <p:ph idx="2" type="body"/>
          </p:nvPr>
        </p:nvSpPr>
        <p:spPr>
          <a:xfrm>
            <a:off x="644773" y="2325836"/>
            <a:ext cx="3296919" cy="38511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11"/>
          <p:cNvSpPr txBox="1"/>
          <p:nvPr>
            <p:ph idx="3" type="body"/>
          </p:nvPr>
        </p:nvSpPr>
        <p:spPr>
          <a:xfrm>
            <a:off x="4351622" y="2325836"/>
            <a:ext cx="3296919" cy="38511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4" type="body"/>
          </p:nvPr>
        </p:nvSpPr>
        <p:spPr>
          <a:xfrm>
            <a:off x="8058471" y="2325836"/>
            <a:ext cx="3296919" cy="38511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9375913" y="627684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ontent">
  <p:cSld name="Four Conten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title"/>
          </p:nvPr>
        </p:nvSpPr>
        <p:spPr>
          <a:xfrm>
            <a:off x="644769" y="365125"/>
            <a:ext cx="10710619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>
            <a:off x="644526" y="1962352"/>
            <a:ext cx="4954588" cy="1828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indent="-2286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indent="-2286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2" type="body"/>
          </p:nvPr>
        </p:nvSpPr>
        <p:spPr>
          <a:xfrm>
            <a:off x="6400803" y="1962352"/>
            <a:ext cx="4954588" cy="1828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indent="-2286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indent="-2286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3" type="body"/>
          </p:nvPr>
        </p:nvSpPr>
        <p:spPr>
          <a:xfrm>
            <a:off x="644526" y="4119680"/>
            <a:ext cx="4954588" cy="1828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indent="-2286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indent="-2286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4" type="body"/>
          </p:nvPr>
        </p:nvSpPr>
        <p:spPr>
          <a:xfrm>
            <a:off x="6400803" y="4119680"/>
            <a:ext cx="4954588" cy="1828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indent="-2286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indent="-2286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2" type="sldNum"/>
          </p:nvPr>
        </p:nvSpPr>
        <p:spPr>
          <a:xfrm>
            <a:off x="9375913" y="627684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ontent and subhead">
  <p:cSld name="Four Content and subhead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/>
          <p:nvPr>
            <p:ph type="title"/>
          </p:nvPr>
        </p:nvSpPr>
        <p:spPr>
          <a:xfrm>
            <a:off x="646359" y="365127"/>
            <a:ext cx="10709031" cy="7346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1" type="body"/>
          </p:nvPr>
        </p:nvSpPr>
        <p:spPr>
          <a:xfrm>
            <a:off x="644771" y="1345482"/>
            <a:ext cx="10709031" cy="734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b="0" i="0" sz="2000">
                <a:solidFill>
                  <a:schemeClr val="accen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0" i="0">
                <a:solidFill>
                  <a:schemeClr val="accen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0" i="0">
                <a:solidFill>
                  <a:schemeClr val="accen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0" i="0">
                <a:solidFill>
                  <a:schemeClr val="accen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accen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2" type="body"/>
          </p:nvPr>
        </p:nvSpPr>
        <p:spPr>
          <a:xfrm>
            <a:off x="644526" y="2233235"/>
            <a:ext cx="4954588" cy="16518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indent="-2286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indent="-2286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3" type="body"/>
          </p:nvPr>
        </p:nvSpPr>
        <p:spPr>
          <a:xfrm>
            <a:off x="6400803" y="2233235"/>
            <a:ext cx="4954588" cy="16518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indent="-2286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indent="-2286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4" type="body"/>
          </p:nvPr>
        </p:nvSpPr>
        <p:spPr>
          <a:xfrm>
            <a:off x="644526" y="4448441"/>
            <a:ext cx="4954588" cy="16518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indent="-2286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indent="-2286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5" type="body"/>
          </p:nvPr>
        </p:nvSpPr>
        <p:spPr>
          <a:xfrm>
            <a:off x="6400803" y="4448441"/>
            <a:ext cx="4954588" cy="16518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indent="-2286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indent="-2286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idx="12" type="sldNum"/>
          </p:nvPr>
        </p:nvSpPr>
        <p:spPr>
          <a:xfrm>
            <a:off x="9375913" y="627684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Content">
  <p:cSld name="Five Conten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4"/>
          <p:cNvSpPr txBox="1"/>
          <p:nvPr>
            <p:ph type="title"/>
          </p:nvPr>
        </p:nvSpPr>
        <p:spPr>
          <a:xfrm>
            <a:off x="644769" y="365125"/>
            <a:ext cx="10710619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4"/>
          <p:cNvSpPr txBox="1"/>
          <p:nvPr>
            <p:ph idx="1" type="body"/>
          </p:nvPr>
        </p:nvSpPr>
        <p:spPr>
          <a:xfrm>
            <a:off x="644771" y="2210082"/>
            <a:ext cx="4572000" cy="3890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14"/>
          <p:cNvSpPr txBox="1"/>
          <p:nvPr>
            <p:ph idx="2" type="body"/>
          </p:nvPr>
        </p:nvSpPr>
        <p:spPr>
          <a:xfrm>
            <a:off x="5359999" y="2210085"/>
            <a:ext cx="2926080" cy="16518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indent="-2286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indent="-2286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14"/>
          <p:cNvSpPr txBox="1"/>
          <p:nvPr>
            <p:ph idx="3" type="body"/>
          </p:nvPr>
        </p:nvSpPr>
        <p:spPr>
          <a:xfrm>
            <a:off x="8429308" y="2210086"/>
            <a:ext cx="2926080" cy="16518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indent="-2286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indent="-2286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14"/>
          <p:cNvSpPr txBox="1"/>
          <p:nvPr>
            <p:ph idx="4" type="body"/>
          </p:nvPr>
        </p:nvSpPr>
        <p:spPr>
          <a:xfrm>
            <a:off x="5359999" y="4448439"/>
            <a:ext cx="2926080" cy="16518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indent="-2286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indent="-2286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14"/>
          <p:cNvSpPr txBox="1"/>
          <p:nvPr>
            <p:ph idx="5" type="body"/>
          </p:nvPr>
        </p:nvSpPr>
        <p:spPr>
          <a:xfrm>
            <a:off x="8429308" y="4448441"/>
            <a:ext cx="2926080" cy="16518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indent="-2286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indent="-2286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14"/>
          <p:cNvSpPr txBox="1"/>
          <p:nvPr>
            <p:ph idx="12" type="sldNum"/>
          </p:nvPr>
        </p:nvSpPr>
        <p:spPr>
          <a:xfrm>
            <a:off x="9375913" y="627684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Content and subhead">
  <p:cSld name="Five Content and subhead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646359" y="365127"/>
            <a:ext cx="10709031" cy="7346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5"/>
          <p:cNvSpPr txBox="1"/>
          <p:nvPr>
            <p:ph idx="1" type="body"/>
          </p:nvPr>
        </p:nvSpPr>
        <p:spPr>
          <a:xfrm>
            <a:off x="644771" y="1345482"/>
            <a:ext cx="10709031" cy="734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b="0" i="0" sz="2000">
                <a:solidFill>
                  <a:schemeClr val="accen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0" i="0">
                <a:solidFill>
                  <a:schemeClr val="accen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0" i="0">
                <a:solidFill>
                  <a:schemeClr val="accen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0" i="0">
                <a:solidFill>
                  <a:schemeClr val="accen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accen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5"/>
          <p:cNvSpPr txBox="1"/>
          <p:nvPr>
            <p:ph idx="2" type="body"/>
          </p:nvPr>
        </p:nvSpPr>
        <p:spPr>
          <a:xfrm>
            <a:off x="644771" y="2210082"/>
            <a:ext cx="4572000" cy="3890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15"/>
          <p:cNvSpPr txBox="1"/>
          <p:nvPr>
            <p:ph idx="3" type="body"/>
          </p:nvPr>
        </p:nvSpPr>
        <p:spPr>
          <a:xfrm>
            <a:off x="5359205" y="2210086"/>
            <a:ext cx="2926080" cy="16518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indent="-2286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indent="-2286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15"/>
          <p:cNvSpPr txBox="1"/>
          <p:nvPr>
            <p:ph idx="4" type="body"/>
          </p:nvPr>
        </p:nvSpPr>
        <p:spPr>
          <a:xfrm>
            <a:off x="8427720" y="2210086"/>
            <a:ext cx="2926080" cy="16518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indent="-2286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indent="-2286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15"/>
          <p:cNvSpPr txBox="1"/>
          <p:nvPr>
            <p:ph idx="5" type="body"/>
          </p:nvPr>
        </p:nvSpPr>
        <p:spPr>
          <a:xfrm>
            <a:off x="5359205" y="4448441"/>
            <a:ext cx="2926080" cy="16518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indent="-2286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indent="-2286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2" name="Google Shape;102;p15"/>
          <p:cNvSpPr txBox="1"/>
          <p:nvPr>
            <p:ph idx="6" type="body"/>
          </p:nvPr>
        </p:nvSpPr>
        <p:spPr>
          <a:xfrm>
            <a:off x="8427720" y="4448441"/>
            <a:ext cx="2926080" cy="16518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indent="-2286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indent="-2286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15"/>
          <p:cNvSpPr txBox="1"/>
          <p:nvPr>
            <p:ph idx="12" type="sldNum"/>
          </p:nvPr>
        </p:nvSpPr>
        <p:spPr>
          <a:xfrm>
            <a:off x="9375913" y="627684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, Subhead">
  <p:cSld name="Two Content, Subhead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646359" y="365127"/>
            <a:ext cx="10709031" cy="7346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644771" y="1345482"/>
            <a:ext cx="10709031" cy="734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b="0" i="0" sz="2000">
                <a:solidFill>
                  <a:schemeClr val="accen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0" i="0">
                <a:solidFill>
                  <a:schemeClr val="accen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0" i="0">
                <a:solidFill>
                  <a:schemeClr val="accen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0" i="0">
                <a:solidFill>
                  <a:schemeClr val="accen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accen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16"/>
          <p:cNvSpPr txBox="1"/>
          <p:nvPr>
            <p:ph idx="2" type="body"/>
          </p:nvPr>
        </p:nvSpPr>
        <p:spPr>
          <a:xfrm>
            <a:off x="644769" y="2325836"/>
            <a:ext cx="5181600" cy="38511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8" name="Google Shape;108;p16"/>
          <p:cNvSpPr txBox="1"/>
          <p:nvPr>
            <p:ph idx="3" type="body"/>
          </p:nvPr>
        </p:nvSpPr>
        <p:spPr>
          <a:xfrm>
            <a:off x="6172200" y="2325836"/>
            <a:ext cx="5181600" cy="38511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16"/>
          <p:cNvSpPr txBox="1"/>
          <p:nvPr>
            <p:ph idx="12" type="sldNum"/>
          </p:nvPr>
        </p:nvSpPr>
        <p:spPr>
          <a:xfrm>
            <a:off x="9375913" y="627684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>
            <p:ph type="title"/>
          </p:nvPr>
        </p:nvSpPr>
        <p:spPr>
          <a:xfrm>
            <a:off x="644769" y="365125"/>
            <a:ext cx="10710619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7"/>
          <p:cNvSpPr txBox="1"/>
          <p:nvPr>
            <p:ph idx="1" type="body"/>
          </p:nvPr>
        </p:nvSpPr>
        <p:spPr>
          <a:xfrm>
            <a:off x="644772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3" name="Google Shape;113;p17"/>
          <p:cNvSpPr txBox="1"/>
          <p:nvPr>
            <p:ph idx="2" type="body"/>
          </p:nvPr>
        </p:nvSpPr>
        <p:spPr>
          <a:xfrm>
            <a:off x="644772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17"/>
          <p:cNvSpPr txBox="1"/>
          <p:nvPr>
            <p:ph idx="3" type="body"/>
          </p:nvPr>
        </p:nvSpPr>
        <p:spPr>
          <a:xfrm>
            <a:off x="6172202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5" name="Google Shape;115;p17"/>
          <p:cNvSpPr txBox="1"/>
          <p:nvPr>
            <p:ph idx="4" type="body"/>
          </p:nvPr>
        </p:nvSpPr>
        <p:spPr>
          <a:xfrm>
            <a:off x="6172202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17"/>
          <p:cNvSpPr txBox="1"/>
          <p:nvPr>
            <p:ph idx="12" type="sldNum"/>
          </p:nvPr>
        </p:nvSpPr>
        <p:spPr>
          <a:xfrm>
            <a:off x="9375913" y="627684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/>
          <p:nvPr>
            <p:ph type="title"/>
          </p:nvPr>
        </p:nvSpPr>
        <p:spPr>
          <a:xfrm>
            <a:off x="644771" y="365125"/>
            <a:ext cx="1070903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8"/>
          <p:cNvSpPr txBox="1"/>
          <p:nvPr>
            <p:ph idx="12" type="sldNum"/>
          </p:nvPr>
        </p:nvSpPr>
        <p:spPr>
          <a:xfrm>
            <a:off x="9375913" y="627684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/>
          <p:nvPr>
            <p:ph idx="12" type="sldNum"/>
          </p:nvPr>
        </p:nvSpPr>
        <p:spPr>
          <a:xfrm>
            <a:off x="9375913" y="627684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>
  <p:cSld name="1_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1"/>
          <p:cNvSpPr txBox="1"/>
          <p:nvPr>
            <p:ph idx="12" type="sldNum"/>
          </p:nvPr>
        </p:nvSpPr>
        <p:spPr>
          <a:xfrm>
            <a:off x="9375913" y="627684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6" name="Google Shape;126;p21"/>
          <p:cNvSpPr txBox="1"/>
          <p:nvPr>
            <p:ph idx="1" type="body"/>
          </p:nvPr>
        </p:nvSpPr>
        <p:spPr>
          <a:xfrm>
            <a:off x="5183188" y="987428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▪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-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-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-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-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27" name="Google Shape;127;p21"/>
          <p:cNvSpPr txBox="1"/>
          <p:nvPr>
            <p:ph idx="2" type="body"/>
          </p:nvPr>
        </p:nvSpPr>
        <p:spPr>
          <a:xfrm>
            <a:off x="644773" y="2057402"/>
            <a:ext cx="412725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28" name="Google Shape;128;p21"/>
          <p:cNvSpPr txBox="1"/>
          <p:nvPr>
            <p:ph type="title"/>
          </p:nvPr>
        </p:nvSpPr>
        <p:spPr>
          <a:xfrm>
            <a:off x="644773" y="457200"/>
            <a:ext cx="412725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aira Condensed SemiBold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>
            <p:ph type="title"/>
          </p:nvPr>
        </p:nvSpPr>
        <p:spPr>
          <a:xfrm>
            <a:off x="644773" y="457200"/>
            <a:ext cx="412725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aira Condensed SemiBold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2"/>
          <p:cNvSpPr txBox="1"/>
          <p:nvPr>
            <p:ph idx="1" type="body"/>
          </p:nvPr>
        </p:nvSpPr>
        <p:spPr>
          <a:xfrm>
            <a:off x="644773" y="2057402"/>
            <a:ext cx="412725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2" name="Google Shape;132;p22"/>
          <p:cNvSpPr/>
          <p:nvPr>
            <p:ph idx="2" type="pic"/>
          </p:nvPr>
        </p:nvSpPr>
        <p:spPr>
          <a:xfrm>
            <a:off x="5183188" y="987428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33" name="Google Shape;133;p22"/>
          <p:cNvSpPr txBox="1"/>
          <p:nvPr>
            <p:ph idx="12" type="sldNum"/>
          </p:nvPr>
        </p:nvSpPr>
        <p:spPr>
          <a:xfrm>
            <a:off x="9375913" y="627684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 txBox="1"/>
          <p:nvPr>
            <p:ph type="title"/>
          </p:nvPr>
        </p:nvSpPr>
        <p:spPr>
          <a:xfrm>
            <a:off x="644771" y="365125"/>
            <a:ext cx="1070903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3"/>
          <p:cNvSpPr txBox="1"/>
          <p:nvPr>
            <p:ph idx="1" type="body"/>
          </p:nvPr>
        </p:nvSpPr>
        <p:spPr>
          <a:xfrm rot="5400000">
            <a:off x="3881699" y="-1411302"/>
            <a:ext cx="4235176" cy="10709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/>
          <p:nvPr>
            <p:ph type="title"/>
          </p:nvPr>
        </p:nvSpPr>
        <p:spPr>
          <a:xfrm rot="5400000">
            <a:off x="7133433" y="1956597"/>
            <a:ext cx="5811839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4"/>
          <p:cNvSpPr txBox="1"/>
          <p:nvPr>
            <p:ph idx="1" type="body"/>
          </p:nvPr>
        </p:nvSpPr>
        <p:spPr>
          <a:xfrm rot="5400000">
            <a:off x="1702715" y="-692819"/>
            <a:ext cx="5811839" cy="79277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25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 txBox="1"/>
          <p:nvPr>
            <p:ph type="title"/>
          </p:nvPr>
        </p:nvSpPr>
        <p:spPr>
          <a:xfrm>
            <a:off x="644771" y="365125"/>
            <a:ext cx="1070903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Saira Condensed SemiBold"/>
              <a:buNone/>
              <a:defRPr b="1" i="0" sz="4000" u="none" cap="none" strike="noStrike">
                <a:solidFill>
                  <a:schemeClr val="dk1"/>
                </a:solidFill>
                <a:latin typeface="Saira Condensed SemiBold"/>
                <a:ea typeface="Saira Condensed SemiBold"/>
                <a:cs typeface="Saira Condensed SemiBold"/>
                <a:sym typeface="Saira Condense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1"/>
          <p:cNvSpPr txBox="1"/>
          <p:nvPr>
            <p:ph idx="1" type="body"/>
          </p:nvPr>
        </p:nvSpPr>
        <p:spPr>
          <a:xfrm>
            <a:off x="644771" y="1825625"/>
            <a:ext cx="10709031" cy="4235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TR"/>
              <a:buChar char="-"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NTR"/>
              <a:buChar char="-"/>
              <a:defRPr b="0" i="0" sz="16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NTR"/>
              <a:buChar char="-"/>
              <a:defRPr b="0" i="0" sz="16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NTR"/>
              <a:buChar char="-"/>
              <a:defRPr b="0" i="0" sz="14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2" type="sldNum"/>
          </p:nvPr>
        </p:nvSpPr>
        <p:spPr>
          <a:xfrm>
            <a:off x="9375913" y="627684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chemeClr val="accen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chemeClr val="accen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chemeClr val="accen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chemeClr val="accen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chemeClr val="accen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chemeClr val="accen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chemeClr val="accen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chemeClr val="accen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chemeClr val="accen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5"/>
          <p:cNvSpPr txBox="1"/>
          <p:nvPr>
            <p:ph type="ctrTitle"/>
          </p:nvPr>
        </p:nvSpPr>
        <p:spPr>
          <a:xfrm>
            <a:off x="4249881" y="2504921"/>
            <a:ext cx="7280733" cy="20615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Saira Condensed Light"/>
              <a:buNone/>
            </a:pPr>
            <a:r>
              <a:rPr lang="en-US"/>
              <a:t>ASC Violation Datasets</a:t>
            </a:r>
            <a:endParaRPr/>
          </a:p>
        </p:txBody>
      </p:sp>
      <p:sp>
        <p:nvSpPr>
          <p:cNvPr id="145" name="Google Shape;145;p25"/>
          <p:cNvSpPr txBox="1"/>
          <p:nvPr>
            <p:ph idx="1" type="subTitle"/>
          </p:nvPr>
        </p:nvSpPr>
        <p:spPr>
          <a:xfrm>
            <a:off x="4488873" y="4591369"/>
            <a:ext cx="7041742" cy="9346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146" name="Google Shape;146;p25"/>
          <p:cNvSpPr txBox="1"/>
          <p:nvPr>
            <p:ph idx="2" type="body"/>
          </p:nvPr>
        </p:nvSpPr>
        <p:spPr>
          <a:xfrm>
            <a:off x="4675910" y="5690085"/>
            <a:ext cx="6854708" cy="4225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47" name="Google Shape;147;p25"/>
          <p:cNvSpPr txBox="1"/>
          <p:nvPr>
            <p:ph idx="10" type="dt"/>
          </p:nvPr>
        </p:nvSpPr>
        <p:spPr>
          <a:xfrm>
            <a:off x="10416209" y="6342033"/>
            <a:ext cx="1114406" cy="24622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6"/>
          <p:cNvSpPr txBox="1"/>
          <p:nvPr>
            <p:ph type="title"/>
          </p:nvPr>
        </p:nvSpPr>
        <p:spPr>
          <a:xfrm>
            <a:off x="644769" y="365125"/>
            <a:ext cx="10710600" cy="1325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Synthetic Simple Task Accuracy</a:t>
            </a:r>
            <a:endParaRPr/>
          </a:p>
        </p:txBody>
      </p:sp>
      <p:sp>
        <p:nvSpPr>
          <p:cNvPr id="154" name="Google Shape;154;p26"/>
          <p:cNvSpPr txBox="1"/>
          <p:nvPr>
            <p:ph idx="1" type="body"/>
          </p:nvPr>
        </p:nvSpPr>
        <p:spPr>
          <a:xfrm>
            <a:off x="644773" y="1825625"/>
            <a:ext cx="5392200" cy="423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</a:pPr>
            <a:r>
              <a:rPr lang="en-US"/>
              <a:t>Synthetic Data Pruning: 10200 samples to 8800 samples (Some exact same sample corresponds to different violations, some rule violations are marked incorrectly.) 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>
              <a:rPr lang="en-US"/>
              <a:t>Number of Samples: </a:t>
            </a:r>
            <a:r>
              <a:rPr b="1" lang="en-US"/>
              <a:t>8800</a:t>
            </a:r>
            <a:r>
              <a:rPr lang="en-US"/>
              <a:t> Samples, </a:t>
            </a:r>
            <a:r>
              <a:rPr b="1" lang="en-US"/>
              <a:t>4400</a:t>
            </a:r>
            <a:r>
              <a:rPr lang="en-US"/>
              <a:t> positive, </a:t>
            </a:r>
            <a:r>
              <a:rPr b="1" lang="en-US"/>
              <a:t>4400</a:t>
            </a:r>
            <a:r>
              <a:rPr lang="en-US"/>
              <a:t> negative.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>
              <a:rPr lang="en-US"/>
              <a:t>Inputs: ASC Rules Content + Inputs tables -&gt; Violation exist or not? 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>
              <a:rPr lang="en-US"/>
              <a:t>Accuray: </a:t>
            </a:r>
            <a:r>
              <a:rPr b="1" lang="en-US"/>
              <a:t>85.69% (Deepseek), 86.10%(ChatGpt 5.5). </a:t>
            </a:r>
            <a:endParaRPr b="1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>
              <a:rPr lang="en-US"/>
              <a:t>Precision: 86.17%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>
              <a:rPr lang="en-US"/>
              <a:t>Recall: 83.34%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>
              <a:rPr lang="en-US"/>
              <a:t>F1: 84.37%</a:t>
            </a:r>
            <a:endParaRPr/>
          </a:p>
        </p:txBody>
      </p:sp>
      <p:sp>
        <p:nvSpPr>
          <p:cNvPr id="155" name="Google Shape;155;p26"/>
          <p:cNvSpPr txBox="1"/>
          <p:nvPr>
            <p:ph idx="12" type="sldNum"/>
          </p:nvPr>
        </p:nvSpPr>
        <p:spPr>
          <a:xfrm>
            <a:off x="9375913" y="627684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6" name="Google Shape;156;p26" title="截屏2026-09-21 下午3.33.3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36975" y="2021487"/>
            <a:ext cx="5792851" cy="281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7"/>
          <p:cNvSpPr txBox="1"/>
          <p:nvPr>
            <p:ph type="title"/>
          </p:nvPr>
        </p:nvSpPr>
        <p:spPr>
          <a:xfrm>
            <a:off x="644769" y="365125"/>
            <a:ext cx="10710600" cy="1325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Synthetic Medium Task Accuracy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7"/>
          <p:cNvSpPr txBox="1"/>
          <p:nvPr>
            <p:ph idx="1" type="body"/>
          </p:nvPr>
        </p:nvSpPr>
        <p:spPr>
          <a:xfrm>
            <a:off x="644773" y="1825625"/>
            <a:ext cx="5392200" cy="423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</a:pPr>
            <a:r>
              <a:rPr lang="en-US"/>
              <a:t>Number of Samples: </a:t>
            </a:r>
            <a:r>
              <a:rPr b="1" lang="en-US"/>
              <a:t>4909</a:t>
            </a:r>
            <a:r>
              <a:rPr lang="en-US"/>
              <a:t> Samples, </a:t>
            </a:r>
            <a:r>
              <a:rPr b="1" lang="en-US"/>
              <a:t>4140</a:t>
            </a:r>
            <a:r>
              <a:rPr lang="en-US"/>
              <a:t> positive, </a:t>
            </a:r>
            <a:r>
              <a:rPr b="1" lang="en-US"/>
              <a:t>769</a:t>
            </a:r>
            <a:r>
              <a:rPr lang="en-US"/>
              <a:t> negative. (After Pruning)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>
              <a:rPr lang="en-US"/>
              <a:t>Inputs: 8-10 ASC violation rule contents+Table Inputs -&gt; identify which rule is violated or no rule violation exist. 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>
              <a:rPr lang="en-US"/>
              <a:t>Accuracy: 74.81% (Deepseek); 78.59% (ChatGpt*)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>
              <a:rPr lang="en-US"/>
              <a:t>Macro-Precision: 77.15%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>
              <a:rPr lang="en-US"/>
              <a:t>Macro-Recall: 76.60%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>
              <a:rPr lang="en-US"/>
              <a:t>Macro-F1: 75.28%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>
              <a:rPr lang="en-US"/>
              <a:t>Weighted-F1: 78.51%</a:t>
            </a:r>
            <a:endParaRPr/>
          </a:p>
        </p:txBody>
      </p:sp>
      <p:sp>
        <p:nvSpPr>
          <p:cNvPr id="164" name="Google Shape;164;p27"/>
          <p:cNvSpPr txBox="1"/>
          <p:nvPr>
            <p:ph idx="12" type="sldNum"/>
          </p:nvPr>
        </p:nvSpPr>
        <p:spPr>
          <a:xfrm>
            <a:off x="9375913" y="627684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65" name="Google Shape;165;p27"/>
          <p:cNvGraphicFramePr/>
          <p:nvPr/>
        </p:nvGraphicFramePr>
        <p:xfrm>
          <a:off x="6036975" y="2099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{1004784F-FDA8-4D67-96AE-D90BD62A2ABE}</a:tableStyleId>
              </a:tblPr>
              <a:tblGrid>
                <a:gridCol w="2443250"/>
                <a:gridCol w="1244425"/>
                <a:gridCol w="758775"/>
                <a:gridCol w="1107825"/>
              </a:tblGrid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Table Type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# of Samples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Correct Samples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Accuracy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Balance Sheet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1410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1192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84.56%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Cash Flow Statement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1372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1102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80.30%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Income Statement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1301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924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70.99%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Statement of Equity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826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640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77.44%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Overall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4909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3858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78.59%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8"/>
          <p:cNvSpPr txBox="1"/>
          <p:nvPr>
            <p:ph type="title"/>
          </p:nvPr>
        </p:nvSpPr>
        <p:spPr>
          <a:xfrm>
            <a:off x="644769" y="365125"/>
            <a:ext cx="10710600" cy="1325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Most Frequent ASC violations</a:t>
            </a:r>
            <a:endParaRPr/>
          </a:p>
        </p:txBody>
      </p:sp>
      <p:sp>
        <p:nvSpPr>
          <p:cNvPr id="172" name="Google Shape;172;p28"/>
          <p:cNvSpPr txBox="1"/>
          <p:nvPr>
            <p:ph idx="12" type="sldNum"/>
          </p:nvPr>
        </p:nvSpPr>
        <p:spPr>
          <a:xfrm>
            <a:off x="9375913" y="627684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73" name="Google Shape;173;p28"/>
          <p:cNvGraphicFramePr/>
          <p:nvPr/>
        </p:nvGraphicFramePr>
        <p:xfrm>
          <a:off x="1669575" y="19965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{FC8E45D3-87BC-49CB-87A9-8453F00FF4F5}</a:tableStyleId>
              </a:tblPr>
              <a:tblGrid>
                <a:gridCol w="2165250"/>
                <a:gridCol w="2165250"/>
                <a:gridCol w="2165250"/>
                <a:gridCol w="21652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Rule ID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Incorrect/Total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 Incorrect Percent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Reason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ASC 220-10-45-1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42/56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75%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Most samples are classified as non-violation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ASC 360-10-35-4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28/54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51.85%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Most samples are classified as non-violation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ASC 220-10-45-14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22/55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40.00%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Many samples are classified as violations of rule ASC 360-10-45-14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Stevens">
      <a:dk1>
        <a:srgbClr val="363D45"/>
      </a:dk1>
      <a:lt1>
        <a:srgbClr val="FFFFFF"/>
      </a:lt1>
      <a:dk2>
        <a:srgbClr val="00427F"/>
      </a:dk2>
      <a:lt2>
        <a:srgbClr val="E3E5E6"/>
      </a:lt2>
      <a:accent1>
        <a:srgbClr val="A32537"/>
      </a:accent1>
      <a:accent2>
        <a:srgbClr val="4895CF"/>
      </a:accent2>
      <a:accent3>
        <a:srgbClr val="EBC73A"/>
      </a:accent3>
      <a:accent4>
        <a:srgbClr val="E6832E"/>
      </a:accent4>
      <a:accent5>
        <a:srgbClr val="E7F2FB"/>
      </a:accent5>
      <a:accent6>
        <a:srgbClr val="FFF2E8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